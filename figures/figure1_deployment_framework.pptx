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0" y="36000"/>
            <a:ext cx="5940000" cy="216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6800" rIns="46800" tIns="36000" bIns="36000"/>
          <a:lstStyle/>
          <a:p>
            <a:pPr algn="ctr"/>
            <a:r>
              <a:rPr sz="960" b="1">
                <a:solidFill>
                  <a:srgbClr val="1A1A1A"/>
                </a:solidFill>
                <a:latin typeface="Liberation Sans"/>
              </a:rPr>
              <a:t>Robot deployment framework for cleaning services</a:t>
            </a:r>
          </a:p>
        </p:txBody>
      </p:sp>
      <p:sp>
        <p:nvSpPr>
          <p:cNvPr id="3" name="subtitle"/>
          <p:cNvSpPr/>
          <p:nvPr/>
        </p:nvSpPr>
        <p:spPr>
          <a:xfrm>
            <a:off x="0" y="252000"/>
            <a:ext cx="5940000" cy="165600"/>
          </a:xfrm>
          <a:prstGeom prst="roundRect">
            <a:avLst>
              <a:gd name="adj" fmla="val 2608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6800" rIns="46800" tIns="36000" bIns="36000"/>
          <a:lstStyle/>
          <a:p>
            <a:pPr algn="ctr"/>
            <a:r>
              <a:rPr sz="710" b="0">
                <a:solidFill>
                  <a:srgbClr val="1A1A1A"/>
                </a:solidFill>
                <a:latin typeface="Liberation Sans"/>
              </a:rPr>
              <a:t>A customer job becomes declared sub-tasks, decisions over the team's evidenced capabilities, and a conditional job plan</a:t>
            </a:r>
          </a:p>
        </p:txBody>
      </p:sp>
      <p:sp>
        <p:nvSpPr>
          <p:cNvPr id="4" name="L1band"/>
          <p:cNvSpPr/>
          <p:nvPr/>
        </p:nvSpPr>
        <p:spPr>
          <a:xfrm>
            <a:off x="18000" y="486000"/>
            <a:ext cx="5904000" cy="1224000"/>
          </a:xfrm>
          <a:prstGeom prst="roundRect">
            <a:avLst>
              <a:gd name="adj" fmla="val 3529"/>
            </a:avLst>
          </a:prstGeom>
          <a:solidFill>
            <a:srgbClr val="F7F7F5"/>
          </a:solidFill>
          <a:ln w="10160">
            <a:solidFill>
              <a:srgbClr val="B9B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5" name="L1lab"/>
          <p:cNvSpPr/>
          <p:nvPr/>
        </p:nvSpPr>
        <p:spPr>
          <a:xfrm>
            <a:off x="54000" y="540000"/>
            <a:ext cx="936000" cy="1116000"/>
          </a:xfrm>
          <a:prstGeom prst="roundRect">
            <a:avLst>
              <a:gd name="adj" fmla="val 4615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Layer 1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Customer job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and requirements</a:t>
            </a:r>
          </a:p>
        </p:txBody>
      </p:sp>
      <p:sp>
        <p:nvSpPr>
          <p:cNvPr id="6" name="INSETBOX"/>
          <p:cNvSpPr/>
          <p:nvPr/>
        </p:nvSpPr>
        <p:spPr>
          <a:xfrm>
            <a:off x="1062000" y="558000"/>
            <a:ext cx="1656000" cy="10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7" name="JOB"/>
          <p:cNvSpPr/>
          <p:nvPr/>
        </p:nvSpPr>
        <p:spPr>
          <a:xfrm>
            <a:off x="2826000" y="558000"/>
            <a:ext cx="2844000" cy="4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Declared work requirement: 3 rooms, 3 whiteboards with a marked region, 2 glass partitions, 3 wall spots, 1 supply request.</a:t>
            </a:r>
          </a:p>
        </p:txBody>
      </p:sp>
      <p:sp>
        <p:nvSpPr>
          <p:cNvPr id="8" name="REQ"/>
          <p:cNvSpPr/>
          <p:nvPr/>
        </p:nvSpPr>
        <p:spPr>
          <a:xfrm>
            <a:off x="2826000" y="1062000"/>
            <a:ext cx="2844000" cy="576000"/>
          </a:xfrm>
          <a:prstGeom prst="roundRect">
            <a:avLst>
              <a:gd name="adj" fmla="val 7500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Sub-task requests: capability, domain, context and target, allowed modes, accepted evidence levels, exact settings, owner-authorised force range, metric bounds, required human roles, inputs from other sub-tasks, logical slot.</a:t>
            </a:r>
          </a:p>
        </p:txBody>
      </p:sp>
      <p:sp>
        <p:nvSpPr>
          <p:cNvPr id="9" name="L2band"/>
          <p:cNvSpPr/>
          <p:nvPr/>
        </p:nvSpPr>
        <p:spPr>
          <a:xfrm>
            <a:off x="18000" y="1854000"/>
            <a:ext cx="5904000" cy="1206000"/>
          </a:xfrm>
          <a:prstGeom prst="roundRect">
            <a:avLst>
              <a:gd name="adj" fmla="val 3582"/>
            </a:avLst>
          </a:prstGeom>
          <a:solidFill>
            <a:srgbClr val="F7F7F5"/>
          </a:solidFill>
          <a:ln w="10160">
            <a:solidFill>
              <a:srgbClr val="B9B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10" name="L2lab"/>
          <p:cNvSpPr/>
          <p:nvPr/>
        </p:nvSpPr>
        <p:spPr>
          <a:xfrm>
            <a:off x="54000" y="1908000"/>
            <a:ext cx="936000" cy="1098000"/>
          </a:xfrm>
          <a:prstGeom prst="roundRect">
            <a:avLst>
              <a:gd name="adj" fmla="val 4615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Layer 2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Team capability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register</a:t>
            </a:r>
          </a:p>
        </p:txBody>
      </p:sp>
      <p:sp>
        <p:nvSpPr>
          <p:cNvPr id="11" name="R_UR3"/>
          <p:cNvSpPr/>
          <p:nvPr/>
        </p:nvSpPr>
        <p:spPr>
          <a:xfrm>
            <a:off x="1062000" y="1926000"/>
            <a:ext cx="1488000" cy="504000"/>
          </a:xfrm>
          <a:prstGeom prst="roundRect">
            <a:avLst>
              <a:gd name="adj" fmla="val 8571"/>
            </a:avLst>
          </a:prstGeom>
          <a:solidFill>
            <a:srgbClr val="ECECEC"/>
          </a:solidFill>
          <a:ln w="1143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Human interaction (UR3 cell)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Command, confirmation and stop by gesture; object handover.</a:t>
            </a:r>
          </a:p>
        </p:txBody>
      </p:sp>
      <p:sp>
        <p:nvSpPr>
          <p:cNvPr id="12" name="R_UR5"/>
          <p:cNvSpPr/>
          <p:nvPr/>
        </p:nvSpPr>
        <p:spPr>
          <a:xfrm>
            <a:off x="2622000" y="1926000"/>
            <a:ext cx="1488000" cy="504000"/>
          </a:xfrm>
          <a:prstGeom prst="roundRect">
            <a:avLst>
              <a:gd name="adj" fmla="val 8571"/>
            </a:avLst>
          </a:prstGeom>
          <a:solidFill>
            <a:srgbClr val="ECECEC"/>
          </a:solidFill>
          <a:ln w="1143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Visual targeting (UR5 cell)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Attended detection of a marked target region that selects cleaning waypoints.</a:t>
            </a:r>
          </a:p>
        </p:txBody>
      </p:sp>
      <p:sp>
        <p:nvSpPr>
          <p:cNvPr id="13" name="R_G1"/>
          <p:cNvSpPr/>
          <p:nvPr/>
        </p:nvSpPr>
        <p:spPr>
          <a:xfrm>
            <a:off x="4182000" y="1926000"/>
            <a:ext cx="1488000" cy="504000"/>
          </a:xfrm>
          <a:prstGeom prst="roundRect">
            <a:avLst>
              <a:gd name="adj" fmla="val 8571"/>
            </a:avLst>
          </a:prstGeom>
          <a:solidFill>
            <a:srgbClr val="ECECEC"/>
          </a:solidFill>
          <a:ln w="1143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Controlled contact (G1 humanoid)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Force-regulated wiping with a final hold, after a confirmation.</a:t>
            </a:r>
          </a:p>
        </p:txBody>
      </p:sp>
      <p:sp>
        <p:nvSpPr>
          <p:cNvPr id="14" name="PROF"/>
          <p:cNvSpPr/>
          <p:nvPr/>
        </p:nvSpPr>
        <p:spPr>
          <a:xfrm>
            <a:off x="1062000" y="2502000"/>
            <a:ext cx="1488000" cy="486000"/>
          </a:xfrm>
          <a:prstGeom prst="roundRect">
            <a:avLst>
              <a:gd name="adj" fmla="val 8888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Capability profiles: evidence level, domain and provenance, exact settings, metrics, qualifiers, source pins.</a:t>
            </a:r>
          </a:p>
        </p:txBody>
      </p:sp>
      <p:sp>
        <p:nvSpPr>
          <p:cNvPr id="15" name="PEOPLE"/>
          <p:cNvSpPr/>
          <p:nvPr/>
        </p:nvSpPr>
        <p:spPr>
          <a:xfrm>
            <a:off x="2622000" y="2502000"/>
            <a:ext cx="1488000" cy="486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Human capabilities (team)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Declared roles (operator, confirmer, attendant), training and availability.</a:t>
            </a:r>
          </a:p>
        </p:txBody>
      </p:sp>
      <p:sp>
        <p:nvSpPr>
          <p:cNvPr id="16" name="LIVE"/>
          <p:cNvSpPr/>
          <p:nvPr/>
        </p:nvSpPr>
        <p:spPr>
          <a:xfrm>
            <a:off x="4182000" y="2502000"/>
            <a:ext cx="1488000" cy="486000"/>
          </a:xfrm>
          <a:prstGeom prst="roundRect">
            <a:avLst>
              <a:gd name="adj" fmla="val 8888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Live facts at decision time: shared safety, area access, location safety and contact permission, input, visibility, path, availability.</a:t>
            </a:r>
          </a:p>
        </p:txBody>
      </p:sp>
      <p:sp>
        <p:nvSpPr>
          <p:cNvPr id="17" name="L3band"/>
          <p:cNvSpPr/>
          <p:nvPr/>
        </p:nvSpPr>
        <p:spPr>
          <a:xfrm>
            <a:off x="18000" y="3204000"/>
            <a:ext cx="5904000" cy="1062000"/>
          </a:xfrm>
          <a:prstGeom prst="roundRect">
            <a:avLst>
              <a:gd name="adj" fmla="val 4067"/>
            </a:avLst>
          </a:prstGeom>
          <a:solidFill>
            <a:srgbClr val="F7F7F5"/>
          </a:solidFill>
          <a:ln w="10160">
            <a:solidFill>
              <a:srgbClr val="B9B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18" name="L3lab"/>
          <p:cNvSpPr/>
          <p:nvPr/>
        </p:nvSpPr>
        <p:spPr>
          <a:xfrm>
            <a:off x="54000" y="3258000"/>
            <a:ext cx="936000" cy="954000"/>
          </a:xfrm>
          <a:prstGeom prst="roundRect">
            <a:avLst>
              <a:gd name="adj" fmla="val 4615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Layer 3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Assignment and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operating decisions</a:t>
            </a:r>
          </a:p>
        </p:txBody>
      </p:sp>
      <p:sp>
        <p:nvSpPr>
          <p:cNvPr id="19" name="RULE"/>
          <p:cNvSpPr/>
          <p:nvPr/>
        </p:nvSpPr>
        <p:spPr>
          <a:xfrm>
            <a:off x="1062000" y="3276000"/>
            <a:ext cx="2211840" cy="486000"/>
          </a:xfrm>
          <a:prstGeom prst="roundRect">
            <a:avLst>
              <a:gd name="adj" fmla="val 8888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Layer 3a: per-sub-task decision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Over the register: SELECT, CONFIRM, ASK, WAIT, WITHHOLD or REFUSE, with every option's reasons.</a:t>
            </a:r>
          </a:p>
        </p:txBody>
      </p:sp>
      <p:sp>
        <p:nvSpPr>
          <p:cNvPr id="20" name="OPT"/>
          <p:cNvSpPr/>
          <p:nvPr/>
        </p:nvSpPr>
        <p:spPr>
          <a:xfrm>
            <a:off x="3381840" y="3276000"/>
            <a:ext cx="2288160" cy="486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Optimised allocation, scheduling and fleet sizing from measured durations and costs.</a:t>
            </a:r>
          </a:p>
        </p:txBody>
      </p:sp>
      <p:sp>
        <p:nvSpPr>
          <p:cNvPr id="21" name="PLAN"/>
          <p:cNvSpPr/>
          <p:nvPr/>
        </p:nvSpPr>
        <p:spPr>
          <a:xfrm>
            <a:off x="1062000" y="3834000"/>
            <a:ext cx="4608000" cy="360000"/>
          </a:xfrm>
          <a:prstGeom prst="roundRect">
            <a:avLst>
              <a:gd name="adj" fmla="val 12000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1">
                <a:solidFill>
                  <a:srgbClr val="1A1A1A"/>
                </a:solidFill>
                <a:latin typeface="Liberation Sans"/>
              </a:rPr>
              <a:t>Layer 3b: conditional job plan</a:t>
            </a:r>
          </a:p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Robot and setting per sub-task, required human roles and actions, open owner choices, pending confirmations, waits, and blocked sub-tasks with the missing evidence named.</a:t>
            </a:r>
          </a:p>
        </p:txBody>
      </p:sp>
      <p:sp>
        <p:nvSpPr>
          <p:cNvPr id="22" name="L4band"/>
          <p:cNvSpPr/>
          <p:nvPr/>
        </p:nvSpPr>
        <p:spPr>
          <a:xfrm>
            <a:off x="18000" y="4410000"/>
            <a:ext cx="5904000" cy="576000"/>
          </a:xfrm>
          <a:prstGeom prst="roundRect">
            <a:avLst>
              <a:gd name="adj" fmla="val 7500"/>
            </a:avLst>
          </a:prstGeom>
          <a:solidFill>
            <a:srgbClr val="F7F7F5"/>
          </a:solidFill>
          <a:ln w="10160">
            <a:solidFill>
              <a:srgbClr val="B9B9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23" name="L4lab"/>
          <p:cNvSpPr/>
          <p:nvPr/>
        </p:nvSpPr>
        <p:spPr>
          <a:xfrm>
            <a:off x="54000" y="4464000"/>
            <a:ext cx="936000" cy="468000"/>
          </a:xfrm>
          <a:prstGeom prst="roundRect">
            <a:avLst>
              <a:gd name="adj" fmla="val 923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Layer 4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Execution and</a:t>
            </a:r>
          </a:p>
          <a:p>
            <a:pPr algn="l"/>
            <a:r>
              <a:rPr sz="819" b="1">
                <a:solidFill>
                  <a:srgbClr val="1A1A1A"/>
                </a:solidFill>
                <a:latin typeface="Liberation Sans"/>
              </a:rPr>
              <a:t>feedback</a:t>
            </a:r>
          </a:p>
        </p:txBody>
      </p:sp>
      <p:sp>
        <p:nvSpPr>
          <p:cNvPr id="24" name="ADAPT"/>
          <p:cNvSpPr/>
          <p:nvPr/>
        </p:nvSpPr>
        <p:spPr>
          <a:xfrm>
            <a:off x="1062000" y="4482000"/>
            <a:ext cx="1488000" cy="4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Dispatch through platform adapters after owner approval.</a:t>
            </a:r>
          </a:p>
        </p:txBody>
      </p:sp>
      <p:sp>
        <p:nvSpPr>
          <p:cNvPr id="25" name="EXEC"/>
          <p:cNvSpPr/>
          <p:nvPr/>
        </p:nvSpPr>
        <p:spPr>
          <a:xfrm>
            <a:off x="2622000" y="4482000"/>
            <a:ext cx="1488000" cy="432000"/>
          </a:xfrm>
          <a:prstGeom prst="roundRect">
            <a:avLst>
              <a:gd name="adj" fmla="val 10000"/>
            </a:avLst>
          </a:prstGeom>
          <a:solidFill>
            <a:srgbClr val="ECECEC"/>
          </a:solidFill>
          <a:ln w="1143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Execution under each case's own gates.</a:t>
            </a:r>
          </a:p>
        </p:txBody>
      </p:sp>
      <p:sp>
        <p:nvSpPr>
          <p:cNvPr id="26" name="FEED"/>
          <p:cNvSpPr/>
          <p:nvPr/>
        </p:nvSpPr>
        <p:spPr>
          <a:xfrm>
            <a:off x="4182000" y="4482000"/>
            <a:ext cx="1488000" cy="43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>Outcome records added to the register for later jobs.</a:t>
            </a:r>
          </a:p>
        </p:txBody>
      </p:sp>
      <p:sp>
        <p:nvSpPr>
          <p:cNvPr id="27" name="LEGS0"/>
          <p:cNvSpPr/>
          <p:nvPr/>
        </p:nvSpPr>
        <p:spPr>
          <a:xfrm>
            <a:off x="36000" y="5122800"/>
            <a:ext cx="252000" cy="129600"/>
          </a:xfrm>
          <a:prstGeom prst="roundRect">
            <a:avLst>
              <a:gd name="adj" fmla="val 33333"/>
            </a:avLst>
          </a:prstGeom>
          <a:solidFill>
            <a:srgbClr val="ECECEC"/>
          </a:solidFill>
          <a:ln w="11430">
            <a:solidFill>
              <a:srgbClr val="5F5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28" name="LEGT0"/>
          <p:cNvSpPr/>
          <p:nvPr/>
        </p:nvSpPr>
        <p:spPr>
          <a:xfrm>
            <a:off x="324000" y="5094000"/>
            <a:ext cx="1632000" cy="180000"/>
          </a:xfrm>
          <a:prstGeom prst="roundRect">
            <a:avLst>
              <a:gd name="adj" fmla="val 2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690" b="0">
                <a:solidFill>
                  <a:srgbClr val="1A1A1A"/>
                </a:solidFill>
                <a:latin typeface="Liberation Sans"/>
              </a:rPr>
              <a:t>Executed in a deployment case</a:t>
            </a:r>
          </a:p>
        </p:txBody>
      </p:sp>
      <p:sp>
        <p:nvSpPr>
          <p:cNvPr id="29" name="LEGS1"/>
          <p:cNvSpPr/>
          <p:nvPr/>
        </p:nvSpPr>
        <p:spPr>
          <a:xfrm>
            <a:off x="1992000" y="5122800"/>
            <a:ext cx="252000" cy="129600"/>
          </a:xfrm>
          <a:prstGeom prst="roundRect">
            <a:avLst>
              <a:gd name="adj" fmla="val 33333"/>
            </a:avLst>
          </a:prstGeom>
          <a:solidFill>
            <a:srgbClr val="E4ECFA"/>
          </a:solidFill>
          <a:ln w="24130">
            <a:solidFill>
              <a:srgbClr val="274F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30" name="LEGT1"/>
          <p:cNvSpPr/>
          <p:nvPr/>
        </p:nvSpPr>
        <p:spPr>
          <a:xfrm>
            <a:off x="2280000" y="5094000"/>
            <a:ext cx="1632000" cy="180000"/>
          </a:xfrm>
          <a:prstGeom prst="roundRect">
            <a:avLst>
              <a:gd name="adj" fmla="val 2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690" b="0">
                <a:solidFill>
                  <a:srgbClr val="1A1A1A"/>
                </a:solidFill>
                <a:latin typeface="Liberation Sans"/>
              </a:rPr>
              <a:t>Implemented offline</a:t>
            </a:r>
          </a:p>
        </p:txBody>
      </p:sp>
      <p:sp>
        <p:nvSpPr>
          <p:cNvPr id="31" name="LEGS2"/>
          <p:cNvSpPr/>
          <p:nvPr/>
        </p:nvSpPr>
        <p:spPr>
          <a:xfrm>
            <a:off x="3948000" y="5122800"/>
            <a:ext cx="252000" cy="129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143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710" b="0">
                <a:solidFill>
                  <a:srgbClr val="1A1A1A"/>
                </a:solidFill>
                <a:latin typeface="Liberation Sans"/>
              </a:rPr>
              <a:t/>
            </a:r>
          </a:p>
        </p:txBody>
      </p:sp>
      <p:sp>
        <p:nvSpPr>
          <p:cNvPr id="32" name="LEGT2"/>
          <p:cNvSpPr/>
          <p:nvPr/>
        </p:nvSpPr>
        <p:spPr>
          <a:xfrm>
            <a:off x="4236000" y="5094000"/>
            <a:ext cx="1632000" cy="180000"/>
          </a:xfrm>
          <a:prstGeom prst="roundRect">
            <a:avLst>
              <a:gd name="adj" fmla="val 24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6800" rIns="46800" tIns="36000" bIns="36000"/>
          <a:lstStyle/>
          <a:p>
            <a:pPr algn="l"/>
            <a:r>
              <a:rPr sz="690" b="0">
                <a:solidFill>
                  <a:srgbClr val="1A1A1A"/>
                </a:solidFill>
                <a:latin typeface="Liberation Sans"/>
              </a:rPr>
              <a:t>Proposed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800" y="594000"/>
            <a:ext cx="1440000" cy="144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630" b="1">
                <a:latin typeface="Liberation Sans"/>
              </a:rPr>
              <a:t>Illustrative job: one floor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52000" y="745200"/>
            <a:ext cx="1476000" cy="792000"/>
          </a:xfrm>
          <a:prstGeom prst="rect">
            <a:avLst/>
          </a:prstGeom>
          <a:solidFill>
            <a:srgbClr val="FFFFFF"/>
          </a:solidFill>
          <a:ln w="889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52000" y="745200"/>
            <a:ext cx="492000" cy="411840"/>
          </a:xfrm>
          <a:prstGeom prst="rect">
            <a:avLst/>
          </a:prstGeom>
          <a:noFill/>
          <a:ln w="762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50400" y="777599"/>
            <a:ext cx="295200" cy="46800"/>
          </a:xfrm>
          <a:prstGeom prst="rect">
            <a:avLst/>
          </a:prstGeom>
          <a:solidFill>
            <a:srgbClr val="DFE6EE"/>
          </a:solidFill>
          <a:ln w="6350">
            <a:solidFill>
              <a:srgbClr val="5F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81800" y="784800"/>
            <a:ext cx="32400" cy="32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44000" y="745200"/>
            <a:ext cx="492000" cy="411840"/>
          </a:xfrm>
          <a:prstGeom prst="rect">
            <a:avLst/>
          </a:prstGeom>
          <a:noFill/>
          <a:ln w="762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42400" y="777599"/>
            <a:ext cx="295200" cy="46800"/>
          </a:xfrm>
          <a:prstGeom prst="rect">
            <a:avLst/>
          </a:prstGeom>
          <a:solidFill>
            <a:srgbClr val="DFE6EE"/>
          </a:solidFill>
          <a:ln w="6350">
            <a:solidFill>
              <a:srgbClr val="5F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73800" y="784800"/>
            <a:ext cx="32400" cy="32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36000" y="745200"/>
            <a:ext cx="492000" cy="411840"/>
          </a:xfrm>
          <a:prstGeom prst="rect">
            <a:avLst/>
          </a:prstGeom>
          <a:noFill/>
          <a:ln w="7620">
            <a:solidFill>
              <a:srgbClr val="6B7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34400" y="777599"/>
            <a:ext cx="295200" cy="46800"/>
          </a:xfrm>
          <a:prstGeom prst="rect">
            <a:avLst/>
          </a:prstGeom>
          <a:solidFill>
            <a:srgbClr val="DFE6EE"/>
          </a:solidFill>
          <a:ln w="6350">
            <a:solidFill>
              <a:srgbClr val="5F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65799" y="784800"/>
            <a:ext cx="32400" cy="32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644000" y="840240"/>
            <a:ext cx="0" cy="269280"/>
          </a:xfrm>
          <a:prstGeom prst="line">
            <a:avLst/>
          </a:prstGeom>
          <a:ln w="25400">
            <a:solidFill>
              <a:srgbClr val="6F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136000" y="840240"/>
            <a:ext cx="0" cy="269280"/>
          </a:xfrm>
          <a:prstGeom prst="line">
            <a:avLst/>
          </a:prstGeom>
          <a:ln w="25400">
            <a:solidFill>
              <a:srgbClr val="6FA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88000" y="1188719"/>
            <a:ext cx="1440000" cy="144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560" b="0">
                <a:latin typeface="Liberation Sans"/>
              </a:rPr>
              <a:t>corridor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000" y="1267920"/>
            <a:ext cx="1440000" cy="144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520" b="0">
                <a:latin typeface="Liberation Sans"/>
              </a:rPr>
              <a:t>blue: glass partitions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000" y="1347120"/>
            <a:ext cx="1440000" cy="144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520" b="0">
                <a:latin typeface="Liberation Sans"/>
              </a:rPr>
              <a:t>red: marked regions and spots</a:t>
            </a:r>
          </a:p>
        </p:txBody>
      </p:sp>
      <p:sp>
        <p:nvSpPr>
          <p:cNvPr id="49" name="Oval 48"/>
          <p:cNvSpPr/>
          <p:nvPr/>
        </p:nvSpPr>
        <p:spPr>
          <a:xfrm>
            <a:off x="1796400" y="1474200"/>
            <a:ext cx="39600" cy="396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62080" y="1474200"/>
            <a:ext cx="39600" cy="396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27760" y="1474200"/>
            <a:ext cx="39600" cy="396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81520" y="1432800"/>
            <a:ext cx="1440000" cy="1440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560" b="0">
                <a:latin typeface="Liberation Sans"/>
              </a:rPr>
              <a:t>wall spots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18000" y="1681200"/>
            <a:ext cx="0" cy="201600"/>
          </a:xfrm>
          <a:prstGeom prst="line">
            <a:avLst/>
          </a:prstGeom>
          <a:ln w="11430">
            <a:solidFill>
              <a:srgbClr val="4D5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78000" y="3031200"/>
            <a:ext cx="0" cy="201600"/>
          </a:xfrm>
          <a:prstGeom prst="line">
            <a:avLst/>
          </a:prstGeom>
          <a:ln w="11430">
            <a:solidFill>
              <a:srgbClr val="4D5A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78000" y="4237200"/>
            <a:ext cx="0" cy="201600"/>
          </a:xfrm>
          <a:prstGeom prst="line">
            <a:avLst/>
          </a:prstGeom>
          <a:ln w="11430">
            <a:solidFill>
              <a:srgbClr val="4D5A6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684400" y="4698000"/>
            <a:ext cx="133200" cy="0"/>
          </a:xfrm>
          <a:prstGeom prst="line">
            <a:avLst/>
          </a:prstGeom>
          <a:ln w="11430">
            <a:solidFill>
              <a:srgbClr val="4D5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817600" y="2178000"/>
            <a:ext cx="0" cy="2520000"/>
          </a:xfrm>
          <a:prstGeom prst="line">
            <a:avLst/>
          </a:prstGeom>
          <a:ln w="11430">
            <a:solidFill>
              <a:srgbClr val="4D5A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>
            <a:off x="5684400" y="2178000"/>
            <a:ext cx="133200" cy="0"/>
          </a:xfrm>
          <a:prstGeom prst="line">
            <a:avLst/>
          </a:prstGeom>
          <a:ln w="11430">
            <a:solidFill>
              <a:srgbClr val="4D5A6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